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B7BDA-BDC7-4B7F-99F3-D500D6CFB0E1}" v="40" dt="2025-09-18T12:08:30.368"/>
    <p1510:client id="{AB23C9A9-704E-43C0-AD6C-2F06739C17F1}" v="158" dt="2025-09-18T12:02:16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7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DF5592-838C-4405-8E62-04116E7DB4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6887E6E-8517-4AE1-B1EB-34DF78E9BE32}">
      <dgm:prSet/>
      <dgm:spPr/>
      <dgm:t>
        <a:bodyPr/>
        <a:lstStyle/>
        <a:p>
          <a:r>
            <a:rPr lang="en-US"/>
            <a:t>• Low-cost and easy to build</a:t>
          </a:r>
        </a:p>
      </dgm:t>
    </dgm:pt>
    <dgm:pt modelId="{B925B8F2-37AE-48F9-ABD6-7567042BA71A}" type="parTrans" cxnId="{5624AAC2-B640-4389-9E89-7638F62BB8B4}">
      <dgm:prSet/>
      <dgm:spPr/>
      <dgm:t>
        <a:bodyPr/>
        <a:lstStyle/>
        <a:p>
          <a:endParaRPr lang="en-US"/>
        </a:p>
      </dgm:t>
    </dgm:pt>
    <dgm:pt modelId="{86D1A69B-2846-4A14-9A73-3D85F5F87666}" type="sibTrans" cxnId="{5624AAC2-B640-4389-9E89-7638F62BB8B4}">
      <dgm:prSet/>
      <dgm:spPr/>
      <dgm:t>
        <a:bodyPr/>
        <a:lstStyle/>
        <a:p>
          <a:endParaRPr lang="en-US"/>
        </a:p>
      </dgm:t>
    </dgm:pt>
    <dgm:pt modelId="{88FEF809-0DC8-46E7-B386-4EB8BF5499A8}">
      <dgm:prSet/>
      <dgm:spPr/>
      <dgm:t>
        <a:bodyPr/>
        <a:lstStyle/>
        <a:p>
          <a:r>
            <a:rPr lang="en-US"/>
            <a:t>• Portable and battery-operated</a:t>
          </a:r>
        </a:p>
      </dgm:t>
    </dgm:pt>
    <dgm:pt modelId="{8BBD24CD-FABA-4C1E-A0B0-59CC4BFBBAC7}" type="parTrans" cxnId="{3E032EB5-B526-4045-BC9E-B6FFD127E30A}">
      <dgm:prSet/>
      <dgm:spPr/>
      <dgm:t>
        <a:bodyPr/>
        <a:lstStyle/>
        <a:p>
          <a:endParaRPr lang="en-US"/>
        </a:p>
      </dgm:t>
    </dgm:pt>
    <dgm:pt modelId="{55AF5A55-F48F-4DEC-9DDA-21E497EBECC3}" type="sibTrans" cxnId="{3E032EB5-B526-4045-BC9E-B6FFD127E30A}">
      <dgm:prSet/>
      <dgm:spPr/>
      <dgm:t>
        <a:bodyPr/>
        <a:lstStyle/>
        <a:p>
          <a:endParaRPr lang="en-US"/>
        </a:p>
      </dgm:t>
    </dgm:pt>
    <dgm:pt modelId="{ADA0025D-F98B-4613-8792-0B27F0397AE7}">
      <dgm:prSet/>
      <dgm:spPr/>
      <dgm:t>
        <a:bodyPr/>
        <a:lstStyle/>
        <a:p>
          <a:r>
            <a:rPr lang="en-US"/>
            <a:t>• Wireless control using a smartphone</a:t>
          </a:r>
        </a:p>
      </dgm:t>
    </dgm:pt>
    <dgm:pt modelId="{86E0CA98-518B-480E-A476-A0481A394C86}" type="parTrans" cxnId="{FA164FAE-2D10-424B-ABB2-C52D613BC5A9}">
      <dgm:prSet/>
      <dgm:spPr/>
      <dgm:t>
        <a:bodyPr/>
        <a:lstStyle/>
        <a:p>
          <a:endParaRPr lang="en-US"/>
        </a:p>
      </dgm:t>
    </dgm:pt>
    <dgm:pt modelId="{04C66E01-FCEA-4672-9BF5-167BE42E1002}" type="sibTrans" cxnId="{FA164FAE-2D10-424B-ABB2-C52D613BC5A9}">
      <dgm:prSet/>
      <dgm:spPr/>
      <dgm:t>
        <a:bodyPr/>
        <a:lstStyle/>
        <a:p>
          <a:endParaRPr lang="en-US"/>
        </a:p>
      </dgm:t>
    </dgm:pt>
    <dgm:pt modelId="{AD4C4277-9CEB-4D96-BAAA-3C1D02BF850F}">
      <dgm:prSet/>
      <dgm:spPr/>
      <dgm:t>
        <a:bodyPr/>
        <a:lstStyle/>
        <a:p>
          <a:r>
            <a:rPr lang="en-US"/>
            <a:t>• Good learning project for robotics and IoT</a:t>
          </a:r>
        </a:p>
      </dgm:t>
    </dgm:pt>
    <dgm:pt modelId="{8E1EB70B-A738-4836-8A16-4525A077C9D1}" type="parTrans" cxnId="{C188C8D0-0012-4162-86F9-F37F2DF11A8F}">
      <dgm:prSet/>
      <dgm:spPr/>
      <dgm:t>
        <a:bodyPr/>
        <a:lstStyle/>
        <a:p>
          <a:endParaRPr lang="en-US"/>
        </a:p>
      </dgm:t>
    </dgm:pt>
    <dgm:pt modelId="{10FEB913-8413-4A9C-BC1D-D47F94357744}" type="sibTrans" cxnId="{C188C8D0-0012-4162-86F9-F37F2DF11A8F}">
      <dgm:prSet/>
      <dgm:spPr/>
      <dgm:t>
        <a:bodyPr/>
        <a:lstStyle/>
        <a:p>
          <a:endParaRPr lang="en-US"/>
        </a:p>
      </dgm:t>
    </dgm:pt>
    <dgm:pt modelId="{9A284090-3C7D-4239-B2FF-5737DBD6D961}" type="pres">
      <dgm:prSet presAssocID="{5CDF5592-838C-4405-8E62-04116E7DB472}" presName="root" presStyleCnt="0">
        <dgm:presLayoutVars>
          <dgm:dir/>
          <dgm:resizeHandles val="exact"/>
        </dgm:presLayoutVars>
      </dgm:prSet>
      <dgm:spPr/>
    </dgm:pt>
    <dgm:pt modelId="{A4D89F5B-7A1E-426B-9951-B98BBF617911}" type="pres">
      <dgm:prSet presAssocID="{16887E6E-8517-4AE1-B1EB-34DF78E9BE32}" presName="compNode" presStyleCnt="0"/>
      <dgm:spPr/>
    </dgm:pt>
    <dgm:pt modelId="{5FD5EB38-6FDC-476E-8330-8E4D56D90CAC}" type="pres">
      <dgm:prSet presAssocID="{16887E6E-8517-4AE1-B1EB-34DF78E9BE32}" presName="bgRect" presStyleLbl="bgShp" presStyleIdx="0" presStyleCnt="4"/>
      <dgm:spPr/>
    </dgm:pt>
    <dgm:pt modelId="{2F7C8CE0-C05F-4178-9C89-C82D8BB2650C}" type="pres">
      <dgm:prSet presAssocID="{16887E6E-8517-4AE1-B1EB-34DF78E9BE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853F623B-F66F-4D35-B8C7-06F7AA5B9C2A}" type="pres">
      <dgm:prSet presAssocID="{16887E6E-8517-4AE1-B1EB-34DF78E9BE32}" presName="spaceRect" presStyleCnt="0"/>
      <dgm:spPr/>
    </dgm:pt>
    <dgm:pt modelId="{86F433D9-9FFA-4A13-A7D5-E2969BE316B7}" type="pres">
      <dgm:prSet presAssocID="{16887E6E-8517-4AE1-B1EB-34DF78E9BE32}" presName="parTx" presStyleLbl="revTx" presStyleIdx="0" presStyleCnt="4">
        <dgm:presLayoutVars>
          <dgm:chMax val="0"/>
          <dgm:chPref val="0"/>
        </dgm:presLayoutVars>
      </dgm:prSet>
      <dgm:spPr/>
    </dgm:pt>
    <dgm:pt modelId="{A5849971-B1EF-433B-8104-8297D025AA50}" type="pres">
      <dgm:prSet presAssocID="{86D1A69B-2846-4A14-9A73-3D85F5F87666}" presName="sibTrans" presStyleCnt="0"/>
      <dgm:spPr/>
    </dgm:pt>
    <dgm:pt modelId="{871EE02A-936F-4CA3-AAF9-E3DB699451F8}" type="pres">
      <dgm:prSet presAssocID="{88FEF809-0DC8-46E7-B386-4EB8BF5499A8}" presName="compNode" presStyleCnt="0"/>
      <dgm:spPr/>
    </dgm:pt>
    <dgm:pt modelId="{40FE0BE3-F444-40C9-A0D4-365A1F304FBC}" type="pres">
      <dgm:prSet presAssocID="{88FEF809-0DC8-46E7-B386-4EB8BF5499A8}" presName="bgRect" presStyleLbl="bgShp" presStyleIdx="1" presStyleCnt="4"/>
      <dgm:spPr/>
    </dgm:pt>
    <dgm:pt modelId="{E546AB9D-F6A4-42E8-B704-7FBF28548252}" type="pres">
      <dgm:prSet presAssocID="{88FEF809-0DC8-46E7-B386-4EB8BF5499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ACF82658-3A95-4F3E-A7F7-52C378A24202}" type="pres">
      <dgm:prSet presAssocID="{88FEF809-0DC8-46E7-B386-4EB8BF5499A8}" presName="spaceRect" presStyleCnt="0"/>
      <dgm:spPr/>
    </dgm:pt>
    <dgm:pt modelId="{8F3917A2-B3D2-4FDE-B05E-D65DEABA61B7}" type="pres">
      <dgm:prSet presAssocID="{88FEF809-0DC8-46E7-B386-4EB8BF5499A8}" presName="parTx" presStyleLbl="revTx" presStyleIdx="1" presStyleCnt="4">
        <dgm:presLayoutVars>
          <dgm:chMax val="0"/>
          <dgm:chPref val="0"/>
        </dgm:presLayoutVars>
      </dgm:prSet>
      <dgm:spPr/>
    </dgm:pt>
    <dgm:pt modelId="{76A8DA82-7E10-4FBB-A87B-9B16DCA2E7B5}" type="pres">
      <dgm:prSet presAssocID="{55AF5A55-F48F-4DEC-9DDA-21E497EBECC3}" presName="sibTrans" presStyleCnt="0"/>
      <dgm:spPr/>
    </dgm:pt>
    <dgm:pt modelId="{E211180F-E170-497F-BA29-73C67B9ABC17}" type="pres">
      <dgm:prSet presAssocID="{ADA0025D-F98B-4613-8792-0B27F0397AE7}" presName="compNode" presStyleCnt="0"/>
      <dgm:spPr/>
    </dgm:pt>
    <dgm:pt modelId="{9989B570-66FC-41BC-9578-5A2EECAFDF9F}" type="pres">
      <dgm:prSet presAssocID="{ADA0025D-F98B-4613-8792-0B27F0397AE7}" presName="bgRect" presStyleLbl="bgShp" presStyleIdx="2" presStyleCnt="4"/>
      <dgm:spPr/>
    </dgm:pt>
    <dgm:pt modelId="{44DC509D-5BA0-45FD-B389-61E45E35EA81}" type="pres">
      <dgm:prSet presAssocID="{ADA0025D-F98B-4613-8792-0B27F0397A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A0C4C6E8-776C-4684-A4E9-44AF6C2BE67F}" type="pres">
      <dgm:prSet presAssocID="{ADA0025D-F98B-4613-8792-0B27F0397AE7}" presName="spaceRect" presStyleCnt="0"/>
      <dgm:spPr/>
    </dgm:pt>
    <dgm:pt modelId="{81B83C74-1732-4955-B3C7-17552BD01884}" type="pres">
      <dgm:prSet presAssocID="{ADA0025D-F98B-4613-8792-0B27F0397AE7}" presName="parTx" presStyleLbl="revTx" presStyleIdx="2" presStyleCnt="4">
        <dgm:presLayoutVars>
          <dgm:chMax val="0"/>
          <dgm:chPref val="0"/>
        </dgm:presLayoutVars>
      </dgm:prSet>
      <dgm:spPr/>
    </dgm:pt>
    <dgm:pt modelId="{96F61E40-1959-41F2-A0EE-8E80492821F7}" type="pres">
      <dgm:prSet presAssocID="{04C66E01-FCEA-4672-9BF5-167BE42E1002}" presName="sibTrans" presStyleCnt="0"/>
      <dgm:spPr/>
    </dgm:pt>
    <dgm:pt modelId="{62DE8D7C-1599-443E-87D0-30D253C6F038}" type="pres">
      <dgm:prSet presAssocID="{AD4C4277-9CEB-4D96-BAAA-3C1D02BF850F}" presName="compNode" presStyleCnt="0"/>
      <dgm:spPr/>
    </dgm:pt>
    <dgm:pt modelId="{1F4AF227-59A4-4E14-98C6-D705ADE52779}" type="pres">
      <dgm:prSet presAssocID="{AD4C4277-9CEB-4D96-BAAA-3C1D02BF850F}" presName="bgRect" presStyleLbl="bgShp" presStyleIdx="3" presStyleCnt="4"/>
      <dgm:spPr/>
    </dgm:pt>
    <dgm:pt modelId="{3D41CEA0-144D-43F3-9ED6-BFC94880C9FB}" type="pres">
      <dgm:prSet presAssocID="{AD4C4277-9CEB-4D96-BAAA-3C1D02BF85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BFF56C2-8FDC-4DAC-B601-E02EE8DFC11D}" type="pres">
      <dgm:prSet presAssocID="{AD4C4277-9CEB-4D96-BAAA-3C1D02BF850F}" presName="spaceRect" presStyleCnt="0"/>
      <dgm:spPr/>
    </dgm:pt>
    <dgm:pt modelId="{AB3AF63B-D2F8-4C8A-8ED8-C2C86346DA27}" type="pres">
      <dgm:prSet presAssocID="{AD4C4277-9CEB-4D96-BAAA-3C1D02BF850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8F360C-E15E-403D-9177-3BB84532EC6D}" type="presOf" srcId="{AD4C4277-9CEB-4D96-BAAA-3C1D02BF850F}" destId="{AB3AF63B-D2F8-4C8A-8ED8-C2C86346DA27}" srcOrd="0" destOrd="0" presId="urn:microsoft.com/office/officeart/2018/2/layout/IconVerticalSolidList"/>
    <dgm:cxn modelId="{EA704484-86C0-43EF-BAA2-7B1DB907A5D1}" type="presOf" srcId="{88FEF809-0DC8-46E7-B386-4EB8BF5499A8}" destId="{8F3917A2-B3D2-4FDE-B05E-D65DEABA61B7}" srcOrd="0" destOrd="0" presId="urn:microsoft.com/office/officeart/2018/2/layout/IconVerticalSolidList"/>
    <dgm:cxn modelId="{30E0DAA0-4EC1-4810-92EF-FC2DFCD2D6BF}" type="presOf" srcId="{5CDF5592-838C-4405-8E62-04116E7DB472}" destId="{9A284090-3C7D-4239-B2FF-5737DBD6D961}" srcOrd="0" destOrd="0" presId="urn:microsoft.com/office/officeart/2018/2/layout/IconVerticalSolidList"/>
    <dgm:cxn modelId="{0EF0F3A9-C8CC-4204-9A88-89CFBA28C739}" type="presOf" srcId="{16887E6E-8517-4AE1-B1EB-34DF78E9BE32}" destId="{86F433D9-9FFA-4A13-A7D5-E2969BE316B7}" srcOrd="0" destOrd="0" presId="urn:microsoft.com/office/officeart/2018/2/layout/IconVerticalSolidList"/>
    <dgm:cxn modelId="{FA164FAE-2D10-424B-ABB2-C52D613BC5A9}" srcId="{5CDF5592-838C-4405-8E62-04116E7DB472}" destId="{ADA0025D-F98B-4613-8792-0B27F0397AE7}" srcOrd="2" destOrd="0" parTransId="{86E0CA98-518B-480E-A476-A0481A394C86}" sibTransId="{04C66E01-FCEA-4672-9BF5-167BE42E1002}"/>
    <dgm:cxn modelId="{3E032EB5-B526-4045-BC9E-B6FFD127E30A}" srcId="{5CDF5592-838C-4405-8E62-04116E7DB472}" destId="{88FEF809-0DC8-46E7-B386-4EB8BF5499A8}" srcOrd="1" destOrd="0" parTransId="{8BBD24CD-FABA-4C1E-A0B0-59CC4BFBBAC7}" sibTransId="{55AF5A55-F48F-4DEC-9DDA-21E497EBECC3}"/>
    <dgm:cxn modelId="{5624AAC2-B640-4389-9E89-7638F62BB8B4}" srcId="{5CDF5592-838C-4405-8E62-04116E7DB472}" destId="{16887E6E-8517-4AE1-B1EB-34DF78E9BE32}" srcOrd="0" destOrd="0" parTransId="{B925B8F2-37AE-48F9-ABD6-7567042BA71A}" sibTransId="{86D1A69B-2846-4A14-9A73-3D85F5F87666}"/>
    <dgm:cxn modelId="{C188C8D0-0012-4162-86F9-F37F2DF11A8F}" srcId="{5CDF5592-838C-4405-8E62-04116E7DB472}" destId="{AD4C4277-9CEB-4D96-BAAA-3C1D02BF850F}" srcOrd="3" destOrd="0" parTransId="{8E1EB70B-A738-4836-8A16-4525A077C9D1}" sibTransId="{10FEB913-8413-4A9C-BC1D-D47F94357744}"/>
    <dgm:cxn modelId="{40C196F9-B805-44DB-9102-6AE336EBE6D4}" type="presOf" srcId="{ADA0025D-F98B-4613-8792-0B27F0397AE7}" destId="{81B83C74-1732-4955-B3C7-17552BD01884}" srcOrd="0" destOrd="0" presId="urn:microsoft.com/office/officeart/2018/2/layout/IconVerticalSolidList"/>
    <dgm:cxn modelId="{3EF854DD-EC21-45A6-BCCD-1A5E7F4B7496}" type="presParOf" srcId="{9A284090-3C7D-4239-B2FF-5737DBD6D961}" destId="{A4D89F5B-7A1E-426B-9951-B98BBF617911}" srcOrd="0" destOrd="0" presId="urn:microsoft.com/office/officeart/2018/2/layout/IconVerticalSolidList"/>
    <dgm:cxn modelId="{97E424B4-87D5-468A-A108-BC5DB5BC1518}" type="presParOf" srcId="{A4D89F5B-7A1E-426B-9951-B98BBF617911}" destId="{5FD5EB38-6FDC-476E-8330-8E4D56D90CAC}" srcOrd="0" destOrd="0" presId="urn:microsoft.com/office/officeart/2018/2/layout/IconVerticalSolidList"/>
    <dgm:cxn modelId="{1ABDA4FF-A06C-4038-BA3B-A511A36B6438}" type="presParOf" srcId="{A4D89F5B-7A1E-426B-9951-B98BBF617911}" destId="{2F7C8CE0-C05F-4178-9C89-C82D8BB2650C}" srcOrd="1" destOrd="0" presId="urn:microsoft.com/office/officeart/2018/2/layout/IconVerticalSolidList"/>
    <dgm:cxn modelId="{8BF2FCB6-A4AD-44DA-8101-E022B00CB69D}" type="presParOf" srcId="{A4D89F5B-7A1E-426B-9951-B98BBF617911}" destId="{853F623B-F66F-4D35-B8C7-06F7AA5B9C2A}" srcOrd="2" destOrd="0" presId="urn:microsoft.com/office/officeart/2018/2/layout/IconVerticalSolidList"/>
    <dgm:cxn modelId="{FEC48D6B-EB27-4908-BDB4-AD9023AEA7A3}" type="presParOf" srcId="{A4D89F5B-7A1E-426B-9951-B98BBF617911}" destId="{86F433D9-9FFA-4A13-A7D5-E2969BE316B7}" srcOrd="3" destOrd="0" presId="urn:microsoft.com/office/officeart/2018/2/layout/IconVerticalSolidList"/>
    <dgm:cxn modelId="{BC51F748-597C-4D6C-B7DC-2FE32D2ACD2D}" type="presParOf" srcId="{9A284090-3C7D-4239-B2FF-5737DBD6D961}" destId="{A5849971-B1EF-433B-8104-8297D025AA50}" srcOrd="1" destOrd="0" presId="urn:microsoft.com/office/officeart/2018/2/layout/IconVerticalSolidList"/>
    <dgm:cxn modelId="{152C2E27-75A5-46AE-BE0A-3F58E21CECC8}" type="presParOf" srcId="{9A284090-3C7D-4239-B2FF-5737DBD6D961}" destId="{871EE02A-936F-4CA3-AAF9-E3DB699451F8}" srcOrd="2" destOrd="0" presId="urn:microsoft.com/office/officeart/2018/2/layout/IconVerticalSolidList"/>
    <dgm:cxn modelId="{2D88C497-A485-4FE0-A83F-D886AEC30EA6}" type="presParOf" srcId="{871EE02A-936F-4CA3-AAF9-E3DB699451F8}" destId="{40FE0BE3-F444-40C9-A0D4-365A1F304FBC}" srcOrd="0" destOrd="0" presId="urn:microsoft.com/office/officeart/2018/2/layout/IconVerticalSolidList"/>
    <dgm:cxn modelId="{02FDDED7-76E9-411B-8E8A-7B31B733FB2B}" type="presParOf" srcId="{871EE02A-936F-4CA3-AAF9-E3DB699451F8}" destId="{E546AB9D-F6A4-42E8-B704-7FBF28548252}" srcOrd="1" destOrd="0" presId="urn:microsoft.com/office/officeart/2018/2/layout/IconVerticalSolidList"/>
    <dgm:cxn modelId="{F3A5696E-8E38-4326-83F5-A7B59647DE70}" type="presParOf" srcId="{871EE02A-936F-4CA3-AAF9-E3DB699451F8}" destId="{ACF82658-3A95-4F3E-A7F7-52C378A24202}" srcOrd="2" destOrd="0" presId="urn:microsoft.com/office/officeart/2018/2/layout/IconVerticalSolidList"/>
    <dgm:cxn modelId="{1B0F6A94-DEC6-4DBC-83DB-0EEEBF02BC99}" type="presParOf" srcId="{871EE02A-936F-4CA3-AAF9-E3DB699451F8}" destId="{8F3917A2-B3D2-4FDE-B05E-D65DEABA61B7}" srcOrd="3" destOrd="0" presId="urn:microsoft.com/office/officeart/2018/2/layout/IconVerticalSolidList"/>
    <dgm:cxn modelId="{37DB240D-A718-463A-B1F4-5CDF129535E1}" type="presParOf" srcId="{9A284090-3C7D-4239-B2FF-5737DBD6D961}" destId="{76A8DA82-7E10-4FBB-A87B-9B16DCA2E7B5}" srcOrd="3" destOrd="0" presId="urn:microsoft.com/office/officeart/2018/2/layout/IconVerticalSolidList"/>
    <dgm:cxn modelId="{F6FAE9C6-DB57-4121-8EAA-AF23DF92C5F1}" type="presParOf" srcId="{9A284090-3C7D-4239-B2FF-5737DBD6D961}" destId="{E211180F-E170-497F-BA29-73C67B9ABC17}" srcOrd="4" destOrd="0" presId="urn:microsoft.com/office/officeart/2018/2/layout/IconVerticalSolidList"/>
    <dgm:cxn modelId="{BAD98DF2-1E56-41C0-BEEB-6BCA678A02AE}" type="presParOf" srcId="{E211180F-E170-497F-BA29-73C67B9ABC17}" destId="{9989B570-66FC-41BC-9578-5A2EECAFDF9F}" srcOrd="0" destOrd="0" presId="urn:microsoft.com/office/officeart/2018/2/layout/IconVerticalSolidList"/>
    <dgm:cxn modelId="{2FBAB4C3-CB78-4613-AE78-E72B6E0750B0}" type="presParOf" srcId="{E211180F-E170-497F-BA29-73C67B9ABC17}" destId="{44DC509D-5BA0-45FD-B389-61E45E35EA81}" srcOrd="1" destOrd="0" presId="urn:microsoft.com/office/officeart/2018/2/layout/IconVerticalSolidList"/>
    <dgm:cxn modelId="{7E770376-BD64-443F-A994-69D2017278B8}" type="presParOf" srcId="{E211180F-E170-497F-BA29-73C67B9ABC17}" destId="{A0C4C6E8-776C-4684-A4E9-44AF6C2BE67F}" srcOrd="2" destOrd="0" presId="urn:microsoft.com/office/officeart/2018/2/layout/IconVerticalSolidList"/>
    <dgm:cxn modelId="{A38B836D-4C2C-460E-A6DA-605DBD0B8898}" type="presParOf" srcId="{E211180F-E170-497F-BA29-73C67B9ABC17}" destId="{81B83C74-1732-4955-B3C7-17552BD01884}" srcOrd="3" destOrd="0" presId="urn:microsoft.com/office/officeart/2018/2/layout/IconVerticalSolidList"/>
    <dgm:cxn modelId="{E0117885-DEDD-4046-920E-AA5D686E3088}" type="presParOf" srcId="{9A284090-3C7D-4239-B2FF-5737DBD6D961}" destId="{96F61E40-1959-41F2-A0EE-8E80492821F7}" srcOrd="5" destOrd="0" presId="urn:microsoft.com/office/officeart/2018/2/layout/IconVerticalSolidList"/>
    <dgm:cxn modelId="{19D28801-BF69-4E48-9BFF-7E0C71C5FF44}" type="presParOf" srcId="{9A284090-3C7D-4239-B2FF-5737DBD6D961}" destId="{62DE8D7C-1599-443E-87D0-30D253C6F038}" srcOrd="6" destOrd="0" presId="urn:microsoft.com/office/officeart/2018/2/layout/IconVerticalSolidList"/>
    <dgm:cxn modelId="{2ADCD1CD-E6E5-4913-945F-6EA3025D40F7}" type="presParOf" srcId="{62DE8D7C-1599-443E-87D0-30D253C6F038}" destId="{1F4AF227-59A4-4E14-98C6-D705ADE52779}" srcOrd="0" destOrd="0" presId="urn:microsoft.com/office/officeart/2018/2/layout/IconVerticalSolidList"/>
    <dgm:cxn modelId="{26356300-2D76-4841-B390-EAE58AE5B26D}" type="presParOf" srcId="{62DE8D7C-1599-443E-87D0-30D253C6F038}" destId="{3D41CEA0-144D-43F3-9ED6-BFC94880C9FB}" srcOrd="1" destOrd="0" presId="urn:microsoft.com/office/officeart/2018/2/layout/IconVerticalSolidList"/>
    <dgm:cxn modelId="{D3B3A9AE-008F-45F7-B1E3-ABE0416ED609}" type="presParOf" srcId="{62DE8D7C-1599-443E-87D0-30D253C6F038}" destId="{2BFF56C2-8FDC-4DAC-B601-E02EE8DFC11D}" srcOrd="2" destOrd="0" presId="urn:microsoft.com/office/officeart/2018/2/layout/IconVerticalSolidList"/>
    <dgm:cxn modelId="{8C5BD451-84D8-4441-AF20-EDD3A5382394}" type="presParOf" srcId="{62DE8D7C-1599-443E-87D0-30D253C6F038}" destId="{AB3AF63B-D2F8-4C8A-8ED8-C2C86346DA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082C7D-D871-4775-8AA1-A93BA1FF9F6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342EA2D-1C53-4E09-8357-13B45B9B3856}">
      <dgm:prSet/>
      <dgm:spPr/>
      <dgm:t>
        <a:bodyPr/>
        <a:lstStyle/>
        <a:p>
          <a:r>
            <a:rPr lang="en-US"/>
            <a:t>This project demonstrates the use of Arduino and Bluetooth in building a simple RC car.</a:t>
          </a:r>
        </a:p>
      </dgm:t>
    </dgm:pt>
    <dgm:pt modelId="{BDB64CD5-548E-4249-BD34-30FAD3CA6AE6}" type="parTrans" cxnId="{C3F87DD3-A274-4E9D-9A7B-9D01D808FD43}">
      <dgm:prSet/>
      <dgm:spPr/>
      <dgm:t>
        <a:bodyPr/>
        <a:lstStyle/>
        <a:p>
          <a:endParaRPr lang="en-US"/>
        </a:p>
      </dgm:t>
    </dgm:pt>
    <dgm:pt modelId="{954AC065-DEF0-4AEB-8696-DFA40C222C14}" type="sibTrans" cxnId="{C3F87DD3-A274-4E9D-9A7B-9D01D808FD43}">
      <dgm:prSet/>
      <dgm:spPr/>
      <dgm:t>
        <a:bodyPr/>
        <a:lstStyle/>
        <a:p>
          <a:endParaRPr lang="en-US"/>
        </a:p>
      </dgm:t>
    </dgm:pt>
    <dgm:pt modelId="{CACC7AFD-3192-4058-98D2-92E73E6D0214}">
      <dgm:prSet/>
      <dgm:spPr/>
      <dgm:t>
        <a:bodyPr/>
        <a:lstStyle/>
        <a:p>
          <a:r>
            <a:rPr lang="en-US"/>
            <a:t>It provides practical knowledge in embedded systems, wireless communication, and robotics.</a:t>
          </a:r>
        </a:p>
      </dgm:t>
    </dgm:pt>
    <dgm:pt modelId="{C7DDC4D0-D4BE-463E-B1C6-CC9F6DB71BBF}" type="parTrans" cxnId="{148DC134-8EBC-46DD-82FF-CF6A8E1FEBCB}">
      <dgm:prSet/>
      <dgm:spPr/>
      <dgm:t>
        <a:bodyPr/>
        <a:lstStyle/>
        <a:p>
          <a:endParaRPr lang="en-US"/>
        </a:p>
      </dgm:t>
    </dgm:pt>
    <dgm:pt modelId="{F0AF2CE2-99FC-4934-A59C-9627DAA0FC32}" type="sibTrans" cxnId="{148DC134-8EBC-46DD-82FF-CF6A8E1FEBCB}">
      <dgm:prSet/>
      <dgm:spPr/>
      <dgm:t>
        <a:bodyPr/>
        <a:lstStyle/>
        <a:p>
          <a:endParaRPr lang="en-US"/>
        </a:p>
      </dgm:t>
    </dgm:pt>
    <dgm:pt modelId="{426045EA-7402-4BAF-A39F-CD98FC27FE45}" type="pres">
      <dgm:prSet presAssocID="{66082C7D-D871-4775-8AA1-A93BA1FF9F65}" presName="root" presStyleCnt="0">
        <dgm:presLayoutVars>
          <dgm:dir/>
          <dgm:resizeHandles val="exact"/>
        </dgm:presLayoutVars>
      </dgm:prSet>
      <dgm:spPr/>
    </dgm:pt>
    <dgm:pt modelId="{EB10C53E-7265-4251-A789-CA5EA44E4FF1}" type="pres">
      <dgm:prSet presAssocID="{C342EA2D-1C53-4E09-8357-13B45B9B3856}" presName="compNode" presStyleCnt="0"/>
      <dgm:spPr/>
    </dgm:pt>
    <dgm:pt modelId="{4EDDCE84-2C0C-489B-BBCE-EF46C50A1454}" type="pres">
      <dgm:prSet presAssocID="{C342EA2D-1C53-4E09-8357-13B45B9B385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72C63311-6298-4443-9F62-4A15FF873F85}" type="pres">
      <dgm:prSet presAssocID="{C342EA2D-1C53-4E09-8357-13B45B9B3856}" presName="spaceRect" presStyleCnt="0"/>
      <dgm:spPr/>
    </dgm:pt>
    <dgm:pt modelId="{EAAB29AB-A124-4DC8-BEE2-6BC934D0C2DC}" type="pres">
      <dgm:prSet presAssocID="{C342EA2D-1C53-4E09-8357-13B45B9B3856}" presName="textRect" presStyleLbl="revTx" presStyleIdx="0" presStyleCnt="2">
        <dgm:presLayoutVars>
          <dgm:chMax val="1"/>
          <dgm:chPref val="1"/>
        </dgm:presLayoutVars>
      </dgm:prSet>
      <dgm:spPr/>
    </dgm:pt>
    <dgm:pt modelId="{47F66404-8E83-4D0E-AFA8-C332D95B2C80}" type="pres">
      <dgm:prSet presAssocID="{954AC065-DEF0-4AEB-8696-DFA40C222C14}" presName="sibTrans" presStyleCnt="0"/>
      <dgm:spPr/>
    </dgm:pt>
    <dgm:pt modelId="{271BB71D-6662-41C3-8738-1735644A4E06}" type="pres">
      <dgm:prSet presAssocID="{CACC7AFD-3192-4058-98D2-92E73E6D0214}" presName="compNode" presStyleCnt="0"/>
      <dgm:spPr/>
    </dgm:pt>
    <dgm:pt modelId="{488ED982-FAB0-4DBB-AA1A-A099214119AC}" type="pres">
      <dgm:prSet presAssocID="{CACC7AFD-3192-4058-98D2-92E73E6D021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9E9B29D-17A5-4C1B-B47E-45C0FE4D7E88}" type="pres">
      <dgm:prSet presAssocID="{CACC7AFD-3192-4058-98D2-92E73E6D0214}" presName="spaceRect" presStyleCnt="0"/>
      <dgm:spPr/>
    </dgm:pt>
    <dgm:pt modelId="{7960B610-D707-4C4C-B2B4-B45C7F892DAB}" type="pres">
      <dgm:prSet presAssocID="{CACC7AFD-3192-4058-98D2-92E73E6D021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48DC134-8EBC-46DD-82FF-CF6A8E1FEBCB}" srcId="{66082C7D-D871-4775-8AA1-A93BA1FF9F65}" destId="{CACC7AFD-3192-4058-98D2-92E73E6D0214}" srcOrd="1" destOrd="0" parTransId="{C7DDC4D0-D4BE-463E-B1C6-CC9F6DB71BBF}" sibTransId="{F0AF2CE2-99FC-4934-A59C-9627DAA0FC32}"/>
    <dgm:cxn modelId="{B7F38645-069D-4019-B43A-9DD4C6A564DC}" type="presOf" srcId="{66082C7D-D871-4775-8AA1-A93BA1FF9F65}" destId="{426045EA-7402-4BAF-A39F-CD98FC27FE45}" srcOrd="0" destOrd="0" presId="urn:microsoft.com/office/officeart/2018/2/layout/IconLabelList"/>
    <dgm:cxn modelId="{985A0551-8A87-48EA-BDA1-F401C353D046}" type="presOf" srcId="{CACC7AFD-3192-4058-98D2-92E73E6D0214}" destId="{7960B610-D707-4C4C-B2B4-B45C7F892DAB}" srcOrd="0" destOrd="0" presId="urn:microsoft.com/office/officeart/2018/2/layout/IconLabelList"/>
    <dgm:cxn modelId="{0A9730C8-A846-4A53-AA30-6EC283E5538B}" type="presOf" srcId="{C342EA2D-1C53-4E09-8357-13B45B9B3856}" destId="{EAAB29AB-A124-4DC8-BEE2-6BC934D0C2DC}" srcOrd="0" destOrd="0" presId="urn:microsoft.com/office/officeart/2018/2/layout/IconLabelList"/>
    <dgm:cxn modelId="{C3F87DD3-A274-4E9D-9A7B-9D01D808FD43}" srcId="{66082C7D-D871-4775-8AA1-A93BA1FF9F65}" destId="{C342EA2D-1C53-4E09-8357-13B45B9B3856}" srcOrd="0" destOrd="0" parTransId="{BDB64CD5-548E-4249-BD34-30FAD3CA6AE6}" sibTransId="{954AC065-DEF0-4AEB-8696-DFA40C222C14}"/>
    <dgm:cxn modelId="{E75A2EFF-D992-4D31-9BBF-0F26A2926417}" type="presParOf" srcId="{426045EA-7402-4BAF-A39F-CD98FC27FE45}" destId="{EB10C53E-7265-4251-A789-CA5EA44E4FF1}" srcOrd="0" destOrd="0" presId="urn:microsoft.com/office/officeart/2018/2/layout/IconLabelList"/>
    <dgm:cxn modelId="{21D1D308-F37C-4497-BA8B-4DB8F2B9CDA5}" type="presParOf" srcId="{EB10C53E-7265-4251-A789-CA5EA44E4FF1}" destId="{4EDDCE84-2C0C-489B-BBCE-EF46C50A1454}" srcOrd="0" destOrd="0" presId="urn:microsoft.com/office/officeart/2018/2/layout/IconLabelList"/>
    <dgm:cxn modelId="{B393BAF2-1AA2-4CBC-89D7-60C9B2AA8189}" type="presParOf" srcId="{EB10C53E-7265-4251-A789-CA5EA44E4FF1}" destId="{72C63311-6298-4443-9F62-4A15FF873F85}" srcOrd="1" destOrd="0" presId="urn:microsoft.com/office/officeart/2018/2/layout/IconLabelList"/>
    <dgm:cxn modelId="{F5241350-BD68-4BFD-A1DF-CDFE9F97A3C1}" type="presParOf" srcId="{EB10C53E-7265-4251-A789-CA5EA44E4FF1}" destId="{EAAB29AB-A124-4DC8-BEE2-6BC934D0C2DC}" srcOrd="2" destOrd="0" presId="urn:microsoft.com/office/officeart/2018/2/layout/IconLabelList"/>
    <dgm:cxn modelId="{2579C851-953A-47BE-B5D6-7A1F6DACB75F}" type="presParOf" srcId="{426045EA-7402-4BAF-A39F-CD98FC27FE45}" destId="{47F66404-8E83-4D0E-AFA8-C332D95B2C80}" srcOrd="1" destOrd="0" presId="urn:microsoft.com/office/officeart/2018/2/layout/IconLabelList"/>
    <dgm:cxn modelId="{1C811D5C-7B46-46D5-A553-1198A5266983}" type="presParOf" srcId="{426045EA-7402-4BAF-A39F-CD98FC27FE45}" destId="{271BB71D-6662-41C3-8738-1735644A4E06}" srcOrd="2" destOrd="0" presId="urn:microsoft.com/office/officeart/2018/2/layout/IconLabelList"/>
    <dgm:cxn modelId="{DABF1090-9597-4987-8105-F16EF90F39FC}" type="presParOf" srcId="{271BB71D-6662-41C3-8738-1735644A4E06}" destId="{488ED982-FAB0-4DBB-AA1A-A099214119AC}" srcOrd="0" destOrd="0" presId="urn:microsoft.com/office/officeart/2018/2/layout/IconLabelList"/>
    <dgm:cxn modelId="{01B5514F-0144-467F-88C0-3C409A52399C}" type="presParOf" srcId="{271BB71D-6662-41C3-8738-1735644A4E06}" destId="{89E9B29D-17A5-4C1B-B47E-45C0FE4D7E88}" srcOrd="1" destOrd="0" presId="urn:microsoft.com/office/officeart/2018/2/layout/IconLabelList"/>
    <dgm:cxn modelId="{315BB2BE-A8E3-4DDA-9605-888F7366FD8A}" type="presParOf" srcId="{271BB71D-6662-41C3-8738-1735644A4E06}" destId="{7960B610-D707-4C4C-B2B4-B45C7F892DA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5EB38-6FDC-476E-8330-8E4D56D90CAC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C8CE0-C05F-4178-9C89-C82D8BB2650C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433D9-9FFA-4A13-A7D5-E2969BE316B7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Low-cost and easy to build</a:t>
          </a:r>
        </a:p>
      </dsp:txBody>
      <dsp:txXfrm>
        <a:off x="1339618" y="2288"/>
        <a:ext cx="3433549" cy="1159843"/>
      </dsp:txXfrm>
    </dsp:sp>
    <dsp:sp modelId="{40FE0BE3-F444-40C9-A0D4-365A1F304FBC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6AB9D-F6A4-42E8-B704-7FBF2854825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917A2-B3D2-4FDE-B05E-D65DEABA61B7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Portable and battery-operated</a:t>
          </a:r>
        </a:p>
      </dsp:txBody>
      <dsp:txXfrm>
        <a:off x="1339618" y="1452092"/>
        <a:ext cx="3433549" cy="1159843"/>
      </dsp:txXfrm>
    </dsp:sp>
    <dsp:sp modelId="{9989B570-66FC-41BC-9578-5A2EECAFDF9F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C509D-5BA0-45FD-B389-61E45E35EA8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83C74-1732-4955-B3C7-17552BD01884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Wireless control using a smartphone</a:t>
          </a:r>
        </a:p>
      </dsp:txBody>
      <dsp:txXfrm>
        <a:off x="1339618" y="2901896"/>
        <a:ext cx="3433549" cy="1159843"/>
      </dsp:txXfrm>
    </dsp:sp>
    <dsp:sp modelId="{1F4AF227-59A4-4E14-98C6-D705ADE52779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1CEA0-144D-43F3-9ED6-BFC94880C9F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AF63B-D2F8-4C8A-8ED8-C2C86346DA27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Good learning project for robotics and IoT</a:t>
          </a:r>
        </a:p>
      </dsp:txBody>
      <dsp:txXfrm>
        <a:off x="1339618" y="4351700"/>
        <a:ext cx="3433549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DDCE84-2C0C-489B-BBCE-EF46C50A1454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B29AB-A124-4DC8-BEE2-6BC934D0C2DC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project demonstrates the use of Arduino and Bluetooth in building a simple RC car.</a:t>
          </a:r>
        </a:p>
      </dsp:txBody>
      <dsp:txXfrm>
        <a:off x="85060" y="2776702"/>
        <a:ext cx="3690000" cy="720000"/>
      </dsp:txXfrm>
    </dsp:sp>
    <dsp:sp modelId="{488ED982-FAB0-4DBB-AA1A-A099214119AC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0B610-D707-4C4C-B2B4-B45C7F892DAB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provides practical knowledge in embedded systems, wireless communication, and robotics.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microsoft.com/office/2007/relationships/hdphoto" Target="../media/hdphoto2.wdp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touching a device with wheels&#10;&#10;AI-generated content may be incorrect.">
            <a:extLst>
              <a:ext uri="{FF2B5EF4-FFF2-40B4-BE49-F238E27FC236}">
                <a16:creationId xmlns:a16="http://schemas.microsoft.com/office/drawing/2014/main" id="{AC75DF09-6A03-C270-96FD-8B89DB69C7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10691" b="2"/>
          <a:stretch>
            <a:fillRect/>
          </a:stretch>
        </p:blipFill>
        <p:spPr>
          <a:xfrm>
            <a:off x="20" y="10"/>
            <a:ext cx="9141693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5286" y="1124712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chemeClr val="bg1"/>
                </a:solidFill>
              </a:rPr>
              <a:t>Bluetooth Controlled RC Car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2275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College Expo Project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EF0EFD6-A3C2-4C94-A80A-BA9709D99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28650" y="720953"/>
            <a:ext cx="7886700" cy="5416094"/>
          </a:xfrm>
          <a:custGeom>
            <a:avLst/>
            <a:gdLst>
              <a:gd name="connsiteX0" fmla="*/ 0 w 7886700"/>
              <a:gd name="connsiteY0" fmla="*/ 0 h 5416094"/>
              <a:gd name="connsiteX1" fmla="*/ 578358 w 7886700"/>
              <a:gd name="connsiteY1" fmla="*/ 0 h 5416094"/>
              <a:gd name="connsiteX2" fmla="*/ 998982 w 7886700"/>
              <a:gd name="connsiteY2" fmla="*/ 0 h 5416094"/>
              <a:gd name="connsiteX3" fmla="*/ 1813941 w 7886700"/>
              <a:gd name="connsiteY3" fmla="*/ 0 h 5416094"/>
              <a:gd name="connsiteX4" fmla="*/ 2392299 w 7886700"/>
              <a:gd name="connsiteY4" fmla="*/ 0 h 5416094"/>
              <a:gd name="connsiteX5" fmla="*/ 2970657 w 7886700"/>
              <a:gd name="connsiteY5" fmla="*/ 0 h 5416094"/>
              <a:gd name="connsiteX6" fmla="*/ 3785616 w 7886700"/>
              <a:gd name="connsiteY6" fmla="*/ 0 h 5416094"/>
              <a:gd name="connsiteX7" fmla="*/ 4285107 w 7886700"/>
              <a:gd name="connsiteY7" fmla="*/ 0 h 5416094"/>
              <a:gd name="connsiteX8" fmla="*/ 5100066 w 7886700"/>
              <a:gd name="connsiteY8" fmla="*/ 0 h 5416094"/>
              <a:gd name="connsiteX9" fmla="*/ 5915025 w 7886700"/>
              <a:gd name="connsiteY9" fmla="*/ 0 h 5416094"/>
              <a:gd name="connsiteX10" fmla="*/ 6572250 w 7886700"/>
              <a:gd name="connsiteY10" fmla="*/ 0 h 5416094"/>
              <a:gd name="connsiteX11" fmla="*/ 7886700 w 7886700"/>
              <a:gd name="connsiteY11" fmla="*/ 0 h 5416094"/>
              <a:gd name="connsiteX12" fmla="*/ 7886700 w 7886700"/>
              <a:gd name="connsiteY12" fmla="*/ 622851 h 5416094"/>
              <a:gd name="connsiteX13" fmla="*/ 7886700 w 7886700"/>
              <a:gd name="connsiteY13" fmla="*/ 1137380 h 5416094"/>
              <a:gd name="connsiteX14" fmla="*/ 7886700 w 7886700"/>
              <a:gd name="connsiteY14" fmla="*/ 1814391 h 5416094"/>
              <a:gd name="connsiteX15" fmla="*/ 7886700 w 7886700"/>
              <a:gd name="connsiteY15" fmla="*/ 2491403 h 5416094"/>
              <a:gd name="connsiteX16" fmla="*/ 7886700 w 7886700"/>
              <a:gd name="connsiteY16" fmla="*/ 3168415 h 5416094"/>
              <a:gd name="connsiteX17" fmla="*/ 7886700 w 7886700"/>
              <a:gd name="connsiteY17" fmla="*/ 3899588 h 5416094"/>
              <a:gd name="connsiteX18" fmla="*/ 7886700 w 7886700"/>
              <a:gd name="connsiteY18" fmla="*/ 4630760 h 5416094"/>
              <a:gd name="connsiteX19" fmla="*/ 7886700 w 7886700"/>
              <a:gd name="connsiteY19" fmla="*/ 5416094 h 5416094"/>
              <a:gd name="connsiteX20" fmla="*/ 7466076 w 7886700"/>
              <a:gd name="connsiteY20" fmla="*/ 5416094 h 5416094"/>
              <a:gd name="connsiteX21" fmla="*/ 6651117 w 7886700"/>
              <a:gd name="connsiteY21" fmla="*/ 5416094 h 5416094"/>
              <a:gd name="connsiteX22" fmla="*/ 5993892 w 7886700"/>
              <a:gd name="connsiteY22" fmla="*/ 5416094 h 5416094"/>
              <a:gd name="connsiteX23" fmla="*/ 5494401 w 7886700"/>
              <a:gd name="connsiteY23" fmla="*/ 5416094 h 5416094"/>
              <a:gd name="connsiteX24" fmla="*/ 4837176 w 7886700"/>
              <a:gd name="connsiteY24" fmla="*/ 5416094 h 5416094"/>
              <a:gd name="connsiteX25" fmla="*/ 4416552 w 7886700"/>
              <a:gd name="connsiteY25" fmla="*/ 5416094 h 5416094"/>
              <a:gd name="connsiteX26" fmla="*/ 3995928 w 7886700"/>
              <a:gd name="connsiteY26" fmla="*/ 5416094 h 5416094"/>
              <a:gd name="connsiteX27" fmla="*/ 3338703 w 7886700"/>
              <a:gd name="connsiteY27" fmla="*/ 5416094 h 5416094"/>
              <a:gd name="connsiteX28" fmla="*/ 2839212 w 7886700"/>
              <a:gd name="connsiteY28" fmla="*/ 5416094 h 5416094"/>
              <a:gd name="connsiteX29" fmla="*/ 2103120 w 7886700"/>
              <a:gd name="connsiteY29" fmla="*/ 5416094 h 5416094"/>
              <a:gd name="connsiteX30" fmla="*/ 1603629 w 7886700"/>
              <a:gd name="connsiteY30" fmla="*/ 5416094 h 5416094"/>
              <a:gd name="connsiteX31" fmla="*/ 867537 w 7886700"/>
              <a:gd name="connsiteY31" fmla="*/ 5416094 h 5416094"/>
              <a:gd name="connsiteX32" fmla="*/ 0 w 7886700"/>
              <a:gd name="connsiteY32" fmla="*/ 5416094 h 5416094"/>
              <a:gd name="connsiteX33" fmla="*/ 0 w 7886700"/>
              <a:gd name="connsiteY33" fmla="*/ 4684921 h 5416094"/>
              <a:gd name="connsiteX34" fmla="*/ 0 w 7886700"/>
              <a:gd name="connsiteY34" fmla="*/ 3953749 h 5416094"/>
              <a:gd name="connsiteX35" fmla="*/ 0 w 7886700"/>
              <a:gd name="connsiteY35" fmla="*/ 3168415 h 5416094"/>
              <a:gd name="connsiteX36" fmla="*/ 0 w 7886700"/>
              <a:gd name="connsiteY36" fmla="*/ 2545564 h 5416094"/>
              <a:gd name="connsiteX37" fmla="*/ 0 w 7886700"/>
              <a:gd name="connsiteY37" fmla="*/ 1760231 h 5416094"/>
              <a:gd name="connsiteX38" fmla="*/ 0 w 7886700"/>
              <a:gd name="connsiteY38" fmla="*/ 1191541 h 5416094"/>
              <a:gd name="connsiteX39" fmla="*/ 0 w 7886700"/>
              <a:gd name="connsiteY39" fmla="*/ 677012 h 5416094"/>
              <a:gd name="connsiteX40" fmla="*/ 0 w 7886700"/>
              <a:gd name="connsiteY4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886700" h="5416094" extrusionOk="0">
                <a:moveTo>
                  <a:pt x="0" y="0"/>
                </a:moveTo>
                <a:cubicBezTo>
                  <a:pt x="165412" y="-21137"/>
                  <a:pt x="322344" y="-21985"/>
                  <a:pt x="578358" y="0"/>
                </a:cubicBezTo>
                <a:cubicBezTo>
                  <a:pt x="834372" y="21985"/>
                  <a:pt x="888520" y="-5136"/>
                  <a:pt x="998982" y="0"/>
                </a:cubicBezTo>
                <a:cubicBezTo>
                  <a:pt x="1109444" y="5136"/>
                  <a:pt x="1622600" y="-36529"/>
                  <a:pt x="1813941" y="0"/>
                </a:cubicBezTo>
                <a:cubicBezTo>
                  <a:pt x="2005282" y="36529"/>
                  <a:pt x="2177619" y="19108"/>
                  <a:pt x="2392299" y="0"/>
                </a:cubicBezTo>
                <a:cubicBezTo>
                  <a:pt x="2606979" y="-19108"/>
                  <a:pt x="2788556" y="-21788"/>
                  <a:pt x="2970657" y="0"/>
                </a:cubicBezTo>
                <a:cubicBezTo>
                  <a:pt x="3152758" y="21788"/>
                  <a:pt x="3596738" y="18723"/>
                  <a:pt x="3785616" y="0"/>
                </a:cubicBezTo>
                <a:cubicBezTo>
                  <a:pt x="3974494" y="-18723"/>
                  <a:pt x="4136501" y="9985"/>
                  <a:pt x="4285107" y="0"/>
                </a:cubicBezTo>
                <a:cubicBezTo>
                  <a:pt x="4433713" y="-9985"/>
                  <a:pt x="4710656" y="-6143"/>
                  <a:pt x="5100066" y="0"/>
                </a:cubicBezTo>
                <a:cubicBezTo>
                  <a:pt x="5489476" y="6143"/>
                  <a:pt x="5703885" y="5883"/>
                  <a:pt x="5915025" y="0"/>
                </a:cubicBezTo>
                <a:cubicBezTo>
                  <a:pt x="6126165" y="-5883"/>
                  <a:pt x="6308797" y="30350"/>
                  <a:pt x="6572250" y="0"/>
                </a:cubicBezTo>
                <a:cubicBezTo>
                  <a:pt x="6835703" y="-30350"/>
                  <a:pt x="7286910" y="4832"/>
                  <a:pt x="7886700" y="0"/>
                </a:cubicBezTo>
                <a:cubicBezTo>
                  <a:pt x="7917044" y="253972"/>
                  <a:pt x="7878280" y="382927"/>
                  <a:pt x="7886700" y="622851"/>
                </a:cubicBezTo>
                <a:cubicBezTo>
                  <a:pt x="7895120" y="862775"/>
                  <a:pt x="7898095" y="881954"/>
                  <a:pt x="7886700" y="1137380"/>
                </a:cubicBezTo>
                <a:cubicBezTo>
                  <a:pt x="7875305" y="1392806"/>
                  <a:pt x="7859449" y="1500954"/>
                  <a:pt x="7886700" y="1814391"/>
                </a:cubicBezTo>
                <a:cubicBezTo>
                  <a:pt x="7913951" y="2127828"/>
                  <a:pt x="7899710" y="2276490"/>
                  <a:pt x="7886700" y="2491403"/>
                </a:cubicBezTo>
                <a:cubicBezTo>
                  <a:pt x="7873690" y="2706316"/>
                  <a:pt x="7899048" y="2943627"/>
                  <a:pt x="7886700" y="3168415"/>
                </a:cubicBezTo>
                <a:cubicBezTo>
                  <a:pt x="7874352" y="3393203"/>
                  <a:pt x="7895759" y="3539359"/>
                  <a:pt x="7886700" y="3899588"/>
                </a:cubicBezTo>
                <a:cubicBezTo>
                  <a:pt x="7877641" y="4259817"/>
                  <a:pt x="7907485" y="4437980"/>
                  <a:pt x="7886700" y="4630760"/>
                </a:cubicBezTo>
                <a:cubicBezTo>
                  <a:pt x="7865915" y="4823540"/>
                  <a:pt x="7871525" y="5198637"/>
                  <a:pt x="7886700" y="5416094"/>
                </a:cubicBezTo>
                <a:cubicBezTo>
                  <a:pt x="7691680" y="5431844"/>
                  <a:pt x="7601555" y="5415681"/>
                  <a:pt x="7466076" y="5416094"/>
                </a:cubicBezTo>
                <a:cubicBezTo>
                  <a:pt x="7330597" y="5416507"/>
                  <a:pt x="6831360" y="5424066"/>
                  <a:pt x="6651117" y="5416094"/>
                </a:cubicBezTo>
                <a:cubicBezTo>
                  <a:pt x="6470874" y="5408122"/>
                  <a:pt x="6162822" y="5448218"/>
                  <a:pt x="5993892" y="5416094"/>
                </a:cubicBezTo>
                <a:cubicBezTo>
                  <a:pt x="5824963" y="5383970"/>
                  <a:pt x="5688089" y="5423575"/>
                  <a:pt x="5494401" y="5416094"/>
                </a:cubicBezTo>
                <a:cubicBezTo>
                  <a:pt x="5300713" y="5408613"/>
                  <a:pt x="5038344" y="5439836"/>
                  <a:pt x="4837176" y="5416094"/>
                </a:cubicBezTo>
                <a:cubicBezTo>
                  <a:pt x="4636008" y="5392352"/>
                  <a:pt x="4547230" y="5414191"/>
                  <a:pt x="4416552" y="5416094"/>
                </a:cubicBezTo>
                <a:cubicBezTo>
                  <a:pt x="4285874" y="5417997"/>
                  <a:pt x="4197467" y="5397786"/>
                  <a:pt x="3995928" y="5416094"/>
                </a:cubicBezTo>
                <a:cubicBezTo>
                  <a:pt x="3794389" y="5434402"/>
                  <a:pt x="3512175" y="5385012"/>
                  <a:pt x="3338703" y="5416094"/>
                </a:cubicBezTo>
                <a:cubicBezTo>
                  <a:pt x="3165232" y="5447176"/>
                  <a:pt x="2961841" y="5402137"/>
                  <a:pt x="2839212" y="5416094"/>
                </a:cubicBezTo>
                <a:cubicBezTo>
                  <a:pt x="2716583" y="5430051"/>
                  <a:pt x="2260631" y="5391454"/>
                  <a:pt x="2103120" y="5416094"/>
                </a:cubicBezTo>
                <a:cubicBezTo>
                  <a:pt x="1945609" y="5440734"/>
                  <a:pt x="1802870" y="5413244"/>
                  <a:pt x="1603629" y="5416094"/>
                </a:cubicBezTo>
                <a:cubicBezTo>
                  <a:pt x="1404388" y="5418944"/>
                  <a:pt x="1036615" y="5428037"/>
                  <a:pt x="867537" y="5416094"/>
                </a:cubicBezTo>
                <a:cubicBezTo>
                  <a:pt x="698459" y="5404151"/>
                  <a:pt x="196765" y="5387017"/>
                  <a:pt x="0" y="5416094"/>
                </a:cubicBezTo>
                <a:cubicBezTo>
                  <a:pt x="-7913" y="5158982"/>
                  <a:pt x="-32352" y="4972281"/>
                  <a:pt x="0" y="4684921"/>
                </a:cubicBezTo>
                <a:cubicBezTo>
                  <a:pt x="32352" y="4397561"/>
                  <a:pt x="-36146" y="4109983"/>
                  <a:pt x="0" y="3953749"/>
                </a:cubicBezTo>
                <a:cubicBezTo>
                  <a:pt x="36146" y="3797515"/>
                  <a:pt x="38942" y="3433311"/>
                  <a:pt x="0" y="3168415"/>
                </a:cubicBezTo>
                <a:cubicBezTo>
                  <a:pt x="-38942" y="2903519"/>
                  <a:pt x="-264" y="2810505"/>
                  <a:pt x="0" y="2545564"/>
                </a:cubicBezTo>
                <a:cubicBezTo>
                  <a:pt x="264" y="2280623"/>
                  <a:pt x="20689" y="1994225"/>
                  <a:pt x="0" y="1760231"/>
                </a:cubicBezTo>
                <a:cubicBezTo>
                  <a:pt x="-20689" y="1526237"/>
                  <a:pt x="16073" y="1386976"/>
                  <a:pt x="0" y="1191541"/>
                </a:cubicBezTo>
                <a:cubicBezTo>
                  <a:pt x="-16073" y="996106"/>
                  <a:pt x="-16965" y="844858"/>
                  <a:pt x="0" y="677012"/>
                </a:cubicBezTo>
                <a:cubicBezTo>
                  <a:pt x="16965" y="509166"/>
                  <a:pt x="85" y="277162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C24EF-5788-A7AF-6511-D21E0558A50B}"/>
              </a:ext>
            </a:extLst>
          </p:cNvPr>
          <p:cNvSpPr txBox="1"/>
          <p:nvPr/>
        </p:nvSpPr>
        <p:spPr>
          <a:xfrm>
            <a:off x="726319" y="4265841"/>
            <a:ext cx="199601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Team Members</a:t>
            </a:r>
            <a:r>
              <a:rPr lang="en-IN" u="sng" dirty="0"/>
              <a:t>:</a:t>
            </a:r>
          </a:p>
          <a:p>
            <a:r>
              <a:rPr lang="en-IN" dirty="0"/>
              <a:t>Siddharth S</a:t>
            </a:r>
          </a:p>
          <a:p>
            <a:r>
              <a:rPr lang="en-IN" dirty="0"/>
              <a:t>Mohith J</a:t>
            </a:r>
          </a:p>
          <a:p>
            <a:r>
              <a:rPr lang="en-IN" dirty="0" err="1"/>
              <a:t>Navienkumar</a:t>
            </a:r>
            <a:r>
              <a:rPr lang="en-IN" dirty="0"/>
              <a:t> C</a:t>
            </a:r>
          </a:p>
          <a:p>
            <a:r>
              <a:rPr lang="en-IN" dirty="0"/>
              <a:t>Shri Shyam A 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Introduction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• A Bluetooth-controlled RC car built using Arduino UNO</a:t>
            </a:r>
          </a:p>
          <a:p>
            <a:r>
              <a:rPr lang="en-US" sz="1600"/>
              <a:t>• Controlled wirelessly using a smartphone app</a:t>
            </a:r>
          </a:p>
          <a:p>
            <a:r>
              <a:rPr lang="en-US" sz="1600"/>
              <a:t>• Demonstrates integration of hardware and software in robotics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22647C5-20FB-5F37-1CA6-F2F2FFEC5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0" y="2734056"/>
            <a:ext cx="8294914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700" y="623096"/>
            <a:ext cx="3320066" cy="570953"/>
          </a:xfrm>
        </p:spPr>
        <p:txBody>
          <a:bodyPr>
            <a:normAutofit/>
          </a:bodyPr>
          <a:lstStyle/>
          <a:p>
            <a:r>
              <a:rPr lang="en-US" sz="2400"/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23" y="1253599"/>
            <a:ext cx="3034963" cy="311298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• Arduino UNO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• L298N Motor Driver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/>
              <a:t>• 4 x 6V DC Motors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/>
              <a:t>• 2 x Lithium-ion Batteries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/>
              <a:t>• HC-05 Bluetooth Module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/>
              <a:t>• Buzzer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/>
              <a:t>• 4 x LEDs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/>
              <a:t>• Jumper Wires</a:t>
            </a:r>
            <a:endParaRPr lang="en-US" sz="16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/>
              <a:t>• Switch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ea typeface="Calibri"/>
                <a:cs typeface="Calibri"/>
              </a:rPr>
              <a:t>• Mini bread board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1F3642D-13C8-47D1-8141-3F5A7CEBA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0356" y="1064378"/>
            <a:ext cx="1497423" cy="1497423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4" y="0"/>
                  <a:pt x="1691640" y="378686"/>
                  <a:pt x="1691640" y="845820"/>
                </a:cubicBezTo>
                <a:cubicBezTo>
                  <a:pt x="1691640" y="1312954"/>
                  <a:pt x="1312954" y="1691640"/>
                  <a:pt x="845820" y="1691640"/>
                </a:cubicBezTo>
                <a:cubicBezTo>
                  <a:pt x="378687" y="1691640"/>
                  <a:pt x="0" y="1312954"/>
                  <a:pt x="0" y="845820"/>
                </a:cubicBezTo>
                <a:cubicBezTo>
                  <a:pt x="0" y="378686"/>
                  <a:pt x="378687" y="0"/>
                  <a:pt x="845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976" y="914874"/>
            <a:ext cx="1788813" cy="1788813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F1CD662-C732-41EB-A08A-EFB9E7EB8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7263" y="-5219"/>
            <a:ext cx="3326736" cy="2789641"/>
          </a:xfrm>
          <a:custGeom>
            <a:avLst/>
            <a:gdLst>
              <a:gd name="connsiteX0" fmla="*/ 267865 w 3913376"/>
              <a:gd name="connsiteY0" fmla="*/ 0 h 3281569"/>
              <a:gd name="connsiteX1" fmla="*/ 3913376 w 3913376"/>
              <a:gd name="connsiteY1" fmla="*/ 0 h 3281569"/>
              <a:gd name="connsiteX2" fmla="*/ 3913376 w 3913376"/>
              <a:gd name="connsiteY2" fmla="*/ 2499938 h 3281569"/>
              <a:gd name="connsiteX3" fmla="*/ 3794714 w 3913376"/>
              <a:gd name="connsiteY3" fmla="*/ 2630499 h 3281569"/>
              <a:gd name="connsiteX4" fmla="*/ 2222892 w 3913376"/>
              <a:gd name="connsiteY4" fmla="*/ 3281569 h 3281569"/>
              <a:gd name="connsiteX5" fmla="*/ 0 w 3913376"/>
              <a:gd name="connsiteY5" fmla="*/ 1058677 h 3281569"/>
              <a:gd name="connsiteX6" fmla="*/ 174686 w 3913376"/>
              <a:gd name="connsiteY6" fmla="*/ 193427 h 328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8110" y="-5221"/>
            <a:ext cx="3465890" cy="2928795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8E915F0-311A-4BDD-94EC-B0A3D6A3C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790" y="3099184"/>
            <a:ext cx="2057400" cy="20574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7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7" y="2743200"/>
                  <a:pt x="0" y="2129114"/>
                  <a:pt x="0" y="1371600"/>
                </a:cubicBezTo>
                <a:cubicBezTo>
                  <a:pt x="0" y="614087"/>
                  <a:pt x="614087" y="0"/>
                  <a:pt x="13716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6979" y="2968886"/>
            <a:ext cx="2304288" cy="23042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5137" y="5027781"/>
            <a:ext cx="3496302" cy="1840728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640CCAE-325C-4DD0-BB26-38BF690F3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45451"/>
            <a:ext cx="1351050" cy="1696600"/>
          </a:xfrm>
          <a:custGeom>
            <a:avLst/>
            <a:gdLst>
              <a:gd name="connsiteX0" fmla="*/ 644549 w 1732108"/>
              <a:gd name="connsiteY0" fmla="*/ 0 h 2175118"/>
              <a:gd name="connsiteX1" fmla="*/ 1732108 w 1732108"/>
              <a:gd name="connsiteY1" fmla="*/ 1087559 h 2175118"/>
              <a:gd name="connsiteX2" fmla="*/ 644549 w 1732108"/>
              <a:gd name="connsiteY2" fmla="*/ 2175118 h 2175118"/>
              <a:gd name="connsiteX3" fmla="*/ 36485 w 1732108"/>
              <a:gd name="connsiteY3" fmla="*/ 1989380 h 2175118"/>
              <a:gd name="connsiteX4" fmla="*/ 0 w 1732108"/>
              <a:gd name="connsiteY4" fmla="*/ 1959278 h 2175118"/>
              <a:gd name="connsiteX5" fmla="*/ 0 w 1732108"/>
              <a:gd name="connsiteY5" fmla="*/ 215841 h 2175118"/>
              <a:gd name="connsiteX6" fmla="*/ 36485 w 1732108"/>
              <a:gd name="connsiteY6" fmla="*/ 185738 h 2175118"/>
              <a:gd name="connsiteX7" fmla="*/ 644549 w 1732108"/>
              <a:gd name="connsiteY7" fmla="*/ 0 h 2175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2108" h="2175118">
                <a:moveTo>
                  <a:pt x="644549" y="0"/>
                </a:moveTo>
                <a:cubicBezTo>
                  <a:pt x="1245191" y="0"/>
                  <a:pt x="1732108" y="486917"/>
                  <a:pt x="1732108" y="1087559"/>
                </a:cubicBezTo>
                <a:cubicBezTo>
                  <a:pt x="1732108" y="1688201"/>
                  <a:pt x="1245191" y="2175118"/>
                  <a:pt x="644549" y="2175118"/>
                </a:cubicBezTo>
                <a:cubicBezTo>
                  <a:pt x="419308" y="2175118"/>
                  <a:pt x="210060" y="2106646"/>
                  <a:pt x="36485" y="1989380"/>
                </a:cubicBezTo>
                <a:lnTo>
                  <a:pt x="0" y="1959278"/>
                </a:lnTo>
                <a:lnTo>
                  <a:pt x="0" y="215841"/>
                </a:lnTo>
                <a:lnTo>
                  <a:pt x="36485" y="185738"/>
                </a:lnTo>
                <a:cubicBezTo>
                  <a:pt x="210060" y="68473"/>
                  <a:pt x="419308" y="0"/>
                  <a:pt x="644549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9AC9A43-F5C5-4703-A0F0-78CBB9542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68462"/>
            <a:ext cx="1223117" cy="1440735"/>
          </a:xfrm>
          <a:custGeom>
            <a:avLst/>
            <a:gdLst>
              <a:gd name="connsiteX0" fmla="*/ 644548 w 1568092"/>
              <a:gd name="connsiteY0" fmla="*/ 0 h 1847088"/>
              <a:gd name="connsiteX1" fmla="*/ 1568092 w 1568092"/>
              <a:gd name="connsiteY1" fmla="*/ 923544 h 1847088"/>
              <a:gd name="connsiteX2" fmla="*/ 644548 w 1568092"/>
              <a:gd name="connsiteY2" fmla="*/ 1847088 h 1847088"/>
              <a:gd name="connsiteX3" fmla="*/ 128186 w 1568092"/>
              <a:gd name="connsiteY3" fmla="*/ 1689361 h 1847088"/>
              <a:gd name="connsiteX4" fmla="*/ 0 w 1568092"/>
              <a:gd name="connsiteY4" fmla="*/ 1583598 h 1847088"/>
              <a:gd name="connsiteX5" fmla="*/ 0 w 1568092"/>
              <a:gd name="connsiteY5" fmla="*/ 263490 h 1847088"/>
              <a:gd name="connsiteX6" fmla="*/ 128186 w 1568092"/>
              <a:gd name="connsiteY6" fmla="*/ 157727 h 1847088"/>
              <a:gd name="connsiteX7" fmla="*/ 644548 w 1568092"/>
              <a:gd name="connsiteY7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68092" h="1847088">
                <a:moveTo>
                  <a:pt x="644548" y="0"/>
                </a:moveTo>
                <a:cubicBezTo>
                  <a:pt x="1154607" y="0"/>
                  <a:pt x="1568092" y="413485"/>
                  <a:pt x="1568092" y="923544"/>
                </a:cubicBezTo>
                <a:cubicBezTo>
                  <a:pt x="1568092" y="1433603"/>
                  <a:pt x="1154607" y="1847088"/>
                  <a:pt x="644548" y="1847088"/>
                </a:cubicBezTo>
                <a:cubicBezTo>
                  <a:pt x="453276" y="1847088"/>
                  <a:pt x="275584" y="1788942"/>
                  <a:pt x="128186" y="1689361"/>
                </a:cubicBezTo>
                <a:lnTo>
                  <a:pt x="0" y="1583598"/>
                </a:lnTo>
                <a:lnTo>
                  <a:pt x="0" y="263490"/>
                </a:lnTo>
                <a:lnTo>
                  <a:pt x="128186" y="157727"/>
                </a:lnTo>
                <a:cubicBezTo>
                  <a:pt x="275584" y="58147"/>
                  <a:pt x="453276" y="0"/>
                  <a:pt x="6445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9" name="Picture 8" descr="A small blue and green electronic device&#10;&#10;AI-generated content may be incorrect.">
            <a:extLst>
              <a:ext uri="{FF2B5EF4-FFF2-40B4-BE49-F238E27FC236}">
                <a16:creationId xmlns:a16="http://schemas.microsoft.com/office/drawing/2014/main" id="{95F0A83B-DBCC-D488-8661-757979E3C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722" y="-19968"/>
            <a:ext cx="1700285" cy="1767805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E28351C-7EEF-428E-9B7A-5CC84F336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670" y="5152392"/>
            <a:ext cx="3226060" cy="1705608"/>
          </a:xfrm>
          <a:custGeom>
            <a:avLst/>
            <a:gdLst>
              <a:gd name="connsiteX0" fmla="*/ 1975104 w 3950208"/>
              <a:gd name="connsiteY0" fmla="*/ 0 h 2088462"/>
              <a:gd name="connsiteX1" fmla="*/ 3950208 w 3950208"/>
              <a:gd name="connsiteY1" fmla="*/ 1975104 h 2088462"/>
              <a:gd name="connsiteX2" fmla="*/ 3944484 w 3950208"/>
              <a:gd name="connsiteY2" fmla="*/ 2088462 h 2088462"/>
              <a:gd name="connsiteX3" fmla="*/ 5724 w 3950208"/>
              <a:gd name="connsiteY3" fmla="*/ 2088462 h 2088462"/>
              <a:gd name="connsiteX4" fmla="*/ 0 w 3950208"/>
              <a:gd name="connsiteY4" fmla="*/ 1975104 h 2088462"/>
              <a:gd name="connsiteX5" fmla="*/ 1975104 w 3950208"/>
              <a:gd name="connsiteY5" fmla="*/ 0 h 208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Picture 5" descr="A group of colorful wires&#10;&#10;AI-generated content may be incorrect.">
            <a:extLst>
              <a:ext uri="{FF2B5EF4-FFF2-40B4-BE49-F238E27FC236}">
                <a16:creationId xmlns:a16="http://schemas.microsoft.com/office/drawing/2014/main" id="{40728A5A-83EB-AC1B-B3DB-188C7ED33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791" y="5804755"/>
            <a:ext cx="1468630" cy="1053245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5834" y="4366581"/>
            <a:ext cx="2888165" cy="2500087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0B0DBC8-B5F0-40AE-A3D3-BCD504119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5096" y="4509018"/>
            <a:ext cx="2748903" cy="2357649"/>
          </a:xfrm>
          <a:custGeom>
            <a:avLst/>
            <a:gdLst>
              <a:gd name="connsiteX0" fmla="*/ 1837818 w 3178912"/>
              <a:gd name="connsiteY0" fmla="*/ 0 h 2726454"/>
              <a:gd name="connsiteX1" fmla="*/ 3137352 w 3178912"/>
              <a:gd name="connsiteY1" fmla="*/ 538285 h 2726454"/>
              <a:gd name="connsiteX2" fmla="*/ 3178912 w 3178912"/>
              <a:gd name="connsiteY2" fmla="*/ 584013 h 2726454"/>
              <a:gd name="connsiteX3" fmla="*/ 3178912 w 3178912"/>
              <a:gd name="connsiteY3" fmla="*/ 2726454 h 2726454"/>
              <a:gd name="connsiteX4" fmla="*/ 229483 w 3178912"/>
              <a:gd name="connsiteY4" fmla="*/ 2726454 h 2726454"/>
              <a:gd name="connsiteX5" fmla="*/ 221815 w 3178912"/>
              <a:gd name="connsiteY5" fmla="*/ 2713832 h 2726454"/>
              <a:gd name="connsiteX6" fmla="*/ 0 w 3178912"/>
              <a:gd name="connsiteY6" fmla="*/ 1837818 h 2726454"/>
              <a:gd name="connsiteX7" fmla="*/ 1837818 w 3178912"/>
              <a:gd name="connsiteY7" fmla="*/ 0 h 2726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2" name="Picture 11" descr="A red and blue electronic device&#10;&#10;AI-generated content may be incorrect.">
            <a:extLst>
              <a:ext uri="{FF2B5EF4-FFF2-40B4-BE49-F238E27FC236}">
                <a16:creationId xmlns:a16="http://schemas.microsoft.com/office/drawing/2014/main" id="{246756FE-CC33-D971-A1A8-31EA8F30B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157" y="5542065"/>
            <a:ext cx="1406948" cy="1252184"/>
          </a:xfrm>
          <a:prstGeom prst="rect">
            <a:avLst/>
          </a:prstGeom>
        </p:spPr>
      </p:pic>
      <p:pic>
        <p:nvPicPr>
          <p:cNvPr id="13" name="Picture 12" descr="A blue electronic board with wires and wires&#10;&#10;AI-generated content may be incorrect.">
            <a:extLst>
              <a:ext uri="{FF2B5EF4-FFF2-40B4-BE49-F238E27FC236}">
                <a16:creationId xmlns:a16="http://schemas.microsoft.com/office/drawing/2014/main" id="{B9771D21-36F5-D45C-FB15-3532775D1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89442" y="709591"/>
            <a:ext cx="2055435" cy="1917290"/>
          </a:xfrm>
          <a:prstGeom prst="rect">
            <a:avLst/>
          </a:prstGeom>
        </p:spPr>
      </p:pic>
      <p:pic>
        <p:nvPicPr>
          <p:cNvPr id="11" name="Picture 10" descr="A group of yellow and black wheels&#10;&#10;AI-generated content may be incorrect.">
            <a:extLst>
              <a:ext uri="{FF2B5EF4-FFF2-40B4-BE49-F238E27FC236}">
                <a16:creationId xmlns:a16="http://schemas.microsoft.com/office/drawing/2014/main" id="{9CA4A2D2-0413-02A0-933C-E7F0FE1E5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1331" y="4985587"/>
            <a:ext cx="1823923" cy="1677072"/>
          </a:xfrm>
          <a:prstGeom prst="rect">
            <a:avLst/>
          </a:prstGeom>
        </p:spPr>
      </p:pic>
      <p:pic>
        <p:nvPicPr>
          <p:cNvPr id="17" name="Picture 16" descr="A black and red electrical device with a wire&#10;&#10;AI-generated content may be incorrect.">
            <a:extLst>
              <a:ext uri="{FF2B5EF4-FFF2-40B4-BE49-F238E27FC236}">
                <a16:creationId xmlns:a16="http://schemas.microsoft.com/office/drawing/2014/main" id="{1A44C5E5-A845-05A2-59DA-7F5F73A038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2507" y="1253599"/>
            <a:ext cx="1138231" cy="1160533"/>
          </a:xfrm>
          <a:prstGeom prst="rect">
            <a:avLst/>
          </a:prstGeom>
        </p:spPr>
      </p:pic>
      <p:pic>
        <p:nvPicPr>
          <p:cNvPr id="18" name="Picture 17" descr="A battery with two wires&#10;&#10;AI-generated content may be incorrect.">
            <a:extLst>
              <a:ext uri="{FF2B5EF4-FFF2-40B4-BE49-F238E27FC236}">
                <a16:creationId xmlns:a16="http://schemas.microsoft.com/office/drawing/2014/main" id="{E16CD3E3-6DC7-36C8-64D1-09C1982E9E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6107" y="2958203"/>
            <a:ext cx="2229758" cy="2213128"/>
          </a:xfrm>
          <a:prstGeom prst="rect">
            <a:avLst/>
          </a:prstGeom>
        </p:spPr>
      </p:pic>
      <p:pic>
        <p:nvPicPr>
          <p:cNvPr id="4" name="Picture 3" descr="A black rectangular object with a square hole&#10;&#10;AI-generated content may be incorrect.">
            <a:extLst>
              <a:ext uri="{FF2B5EF4-FFF2-40B4-BE49-F238E27FC236}">
                <a16:creationId xmlns:a16="http://schemas.microsoft.com/office/drawing/2014/main" id="{0508A3D0-C80F-1C99-BCAE-097C066F76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0986" y="3143974"/>
            <a:ext cx="1612209" cy="154234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A red switch with white letters&#10;&#10;AI-generated content may be incorrect.">
            <a:extLst>
              <a:ext uri="{FF2B5EF4-FFF2-40B4-BE49-F238E27FC236}">
                <a16:creationId xmlns:a16="http://schemas.microsoft.com/office/drawing/2014/main" id="{E8352FEE-4E15-0406-2A3D-404D6E22C7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9" y="4366581"/>
            <a:ext cx="1032093" cy="1040622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lectronics protoboard">
            <a:extLst>
              <a:ext uri="{FF2B5EF4-FFF2-40B4-BE49-F238E27FC236}">
                <a16:creationId xmlns:a16="http://schemas.microsoft.com/office/drawing/2014/main" id="{B2EE2172-8C04-BEDF-8A93-6A4710301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412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/>
              <a:t>• The smartphone sends commands via Bluetooth</a:t>
            </a:r>
          </a:p>
          <a:p>
            <a:r>
              <a:rPr lang="en-US" sz="1700"/>
              <a:t>• Arduino UNO processes the received commands</a:t>
            </a:r>
          </a:p>
          <a:p>
            <a:r>
              <a:rPr lang="en-US" sz="1700"/>
              <a:t>• L298N motor driver controls the motors accordingly</a:t>
            </a:r>
          </a:p>
          <a:p>
            <a:r>
              <a:rPr lang="en-US" sz="1700"/>
              <a:t>• Car moves forward, backward, left, or right</a:t>
            </a:r>
          </a:p>
          <a:p>
            <a:r>
              <a:rPr lang="en-US" sz="1700"/>
              <a:t>• LEDs and buzzer used for indication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Advantages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4A8D2B-D4F6-9E71-1B9D-A1C32B1FD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605756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 </a:t>
            </a:r>
            <a:r>
              <a:rPr lang="en-GB" b="1" dirty="0"/>
              <a:t>Wireless Control of Vehicles </a:t>
            </a:r>
            <a:r>
              <a:rPr lang="en-GB" dirty="0"/>
              <a:t>– It shows how Bluetooth can be used to remotely control cars, robots, or small vehicles.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 Robotics &amp; Automation </a:t>
            </a:r>
            <a:r>
              <a:rPr lang="en-GB" dirty="0"/>
              <a:t>– Useful in making mobile robots that can be guided wirelessly for tasks like delivery or surveillance.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 Educational Purpose </a:t>
            </a:r>
            <a:r>
              <a:rPr lang="en-GB" dirty="0"/>
              <a:t>– Great for learning about Arduino, motor drivers, sensors, and wireless communication.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 </a:t>
            </a:r>
            <a:r>
              <a:rPr lang="en-GB" b="1" dirty="0"/>
              <a:t>Prototyping for Smart Cars </a:t>
            </a:r>
            <a:r>
              <a:rPr lang="en-GB" dirty="0"/>
              <a:t>– Basic idea behind remote-controlled or even autonomous vehicle systems. Can be upgraded with sensors for advanced robotics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5576887"/>
            <a:ext cx="8183880" cy="640081"/>
          </a:xfrm>
        </p:spPr>
        <p:txBody>
          <a:bodyPr>
            <a:normAutofit/>
          </a:bodyPr>
          <a:lstStyle/>
          <a:p>
            <a:r>
              <a:rPr lang="en-US" sz="2800"/>
              <a:t>Circuit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CDCAD8-6D72-7EE6-A71F-A48E9C5049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1" r="1" b="50"/>
          <a:stretch>
            <a:fillRect/>
          </a:stretch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lor Cover">
            <a:extLst>
              <a:ext uri="{FF2B5EF4-FFF2-40B4-BE49-F238E27FC236}">
                <a16:creationId xmlns:a16="http://schemas.microsoft.com/office/drawing/2014/main" id="{009115B9-5BFD-478D-9C87-29ADB3AF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D57F946-2E03-4DE1-91F8-25BEDC66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-2"/>
            <a:ext cx="260117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598881B-E007-4AAF-BA50-0AD6182192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87A6DD9E-16A5-46AE-A522-D46D6BEDF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Arduino Code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3301" y="841247"/>
            <a:ext cx="5158408" cy="51206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#include &lt;AFMotor.h&gt;</a:t>
            </a:r>
          </a:p>
          <a:p>
            <a:pPr>
              <a:lnSpc>
                <a:spcPct val="90000"/>
              </a:lnSpc>
            </a:pP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// Define motor pins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#define motorA1 7 // IN1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#define motorA2 6 // IN2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#define motorB1 5 // IN3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#define motorB2 4 // IN4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#define ENA 8     // PWM for motor A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#define ENB 3     // PWM for motor B</a:t>
            </a:r>
          </a:p>
          <a:p>
            <a:pPr>
              <a:lnSpc>
                <a:spcPct val="90000"/>
              </a:lnSpc>
            </a:pPr>
            <a:endParaRPr lang="en-US" sz="150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void setup() {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  Serial.begin(9600); // Start Bluetooth communication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  pinMode(motorA1, OUTPUT);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  pinMode(motorA2, OUTPUT);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  pinMode(motorB1, OUTPUT);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  pinMode(motorB2, OUTPUT);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  pinMode(ENA, OUTPUT);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  pinMode(ENB, OUTPUT);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chemeClr val="tx2"/>
                </a:solidFill>
              </a:rPr>
              <a:t>}</a:t>
            </a:r>
          </a:p>
          <a:p>
            <a:pPr>
              <a:lnSpc>
                <a:spcPct val="90000"/>
              </a:lnSpc>
            </a:pPr>
            <a:endParaRPr lang="en-US" sz="15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Arduino Code (Part 2)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36475" y="252484"/>
            <a:ext cx="4683084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1188" y="540048"/>
            <a:ext cx="4239072" cy="564129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void loop() {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if (Serial.available()) {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char command = Serial.read(); // Read command from Bluetooth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controlMotors(command);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}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}</a:t>
            </a:r>
          </a:p>
          <a:p>
            <a:pPr>
              <a:lnSpc>
                <a:spcPct val="90000"/>
              </a:lnSpc>
            </a:pPr>
            <a:endParaRPr lang="en-US" sz="120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void controlMotors(char command) {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switch (command) {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case 'F': // Move Forward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digitalWrite(motorA1,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digitalWrite(motorA2, HIGH);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digitalWrite(motorB1, HIGH);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digitalWrite(motorB2,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analogWrite(ENA, 255); // Set speed (max)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analogWrite(ENB, 255); // Set speed (max)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break;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case 'B': // Move Backward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digitalWrite(motorA1, HIGH);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digitalWrite(motorA2,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digitalWrite(motorB1,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digitalWrite(motorB2, HIGH);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analogWrite(ENA, 255);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analogWrite(ENB, 255);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break;</a:t>
            </a:r>
          </a:p>
          <a:p>
            <a:pPr>
              <a:lnSpc>
                <a:spcPct val="90000"/>
              </a:lnSpc>
            </a:pPr>
            <a:endParaRPr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Arduino Code (Part 3)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36475" y="252484"/>
            <a:ext cx="4683084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1188" y="540048"/>
            <a:ext cx="4239072" cy="564129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case 'L': // Turn Left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digitalWrite(motorA1,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digitalWrite(motorA2, HIGH);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digitalWrite(motorB1,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digitalWrite(motorB2, HIGH);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analogWrite(ENA, 255);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analogWrite(ENB, 255);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break;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case 'R': // Turn Right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digitalWrite(motorA1, HIGH);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digitalWrite(motorA2,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digitalWrite(motorB1, HIGH);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digitalWrite(motorB2,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analogWrite(ENA, 255);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analogWrite(ENB, 255);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break;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case 'S': // Stop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digitalWrite(motorA1,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digitalWrite(motorA2,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digitalWrite(motorB1,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digitalWrite(motorB2, LOW);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break;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default: // Default case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    break;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  }</a:t>
            </a:r>
          </a:p>
          <a:p>
            <a:pPr>
              <a:lnSpc>
                <a:spcPct val="90000"/>
              </a:lnSpc>
            </a:pPr>
            <a:r>
              <a:rPr lang="en-US" sz="1200">
                <a:solidFill>
                  <a:schemeClr val="tx2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 Fill">
            <a:extLst>
              <a:ext uri="{FF2B5EF4-FFF2-40B4-BE49-F238E27FC236}">
                <a16:creationId xmlns:a16="http://schemas.microsoft.com/office/drawing/2014/main" id="{03AF1C04-3FEF-41BD-BB84-2F263765B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963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8FB4AD-41E6-47ED-BDA3-A923E30D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7034"/>
            <a:ext cx="9141711" cy="6858000"/>
            <a:chOff x="-2848" y="0"/>
            <a:chExt cx="12188949" cy="6858000"/>
          </a:xfrm>
        </p:grpSpPr>
        <p:sp>
          <p:nvSpPr>
            <p:cNvPr id="26" name="Color Cover">
              <a:extLst>
                <a:ext uri="{FF2B5EF4-FFF2-40B4-BE49-F238E27FC236}">
                  <a16:creationId xmlns:a16="http://schemas.microsoft.com/office/drawing/2014/main" id="{6BAE21C0-2D03-4FC3-9667-4C4B9CC76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Color Cover">
              <a:extLst>
                <a:ext uri="{FF2B5EF4-FFF2-40B4-BE49-F238E27FC236}">
                  <a16:creationId xmlns:a16="http://schemas.microsoft.com/office/drawing/2014/main" id="{FCB3CB3B-5D77-4F1E-A155-DF4EE6E859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F4E70D-A4C9-44E3-A00A-F3AD121A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E8AFF701-6A8D-44BD-8C85-9EE4110F6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Color">
              <a:extLst>
                <a:ext uri="{FF2B5EF4-FFF2-40B4-BE49-F238E27FC236}">
                  <a16:creationId xmlns:a16="http://schemas.microsoft.com/office/drawing/2014/main" id="{7D44C50E-4B0D-458E-8745-151B0968E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 descr="A colorful square with white text&#10;&#10;AI-generated content may be incorrect.">
            <a:extLst>
              <a:ext uri="{FF2B5EF4-FFF2-40B4-BE49-F238E27FC236}">
                <a16:creationId xmlns:a16="http://schemas.microsoft.com/office/drawing/2014/main" id="{2FA20B6E-1420-F46D-7D08-A2FB9BED7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8" r="6" b="13231"/>
          <a:stretch>
            <a:fillRect/>
          </a:stretch>
        </p:blipFill>
        <p:spPr>
          <a:xfrm>
            <a:off x="5301621" y="3444758"/>
            <a:ext cx="3124613" cy="2587337"/>
          </a:xfrm>
          <a:prstGeom prst="rect">
            <a:avLst/>
          </a:prstGeom>
        </p:spPr>
      </p:pic>
      <p:pic>
        <p:nvPicPr>
          <p:cNvPr id="5" name="Picture 4" descr="A blue square with a white symbol&#10;&#10;AI-generated content may be incorrect.">
            <a:extLst>
              <a:ext uri="{FF2B5EF4-FFF2-40B4-BE49-F238E27FC236}">
                <a16:creationId xmlns:a16="http://schemas.microsoft.com/office/drawing/2014/main" id="{10E7C3BC-F8AC-96F3-1C4C-7930886860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55" r="6" b="9745"/>
          <a:stretch>
            <a:fillRect/>
          </a:stretch>
        </p:blipFill>
        <p:spPr>
          <a:xfrm>
            <a:off x="5301621" y="776745"/>
            <a:ext cx="3124613" cy="2587337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F61F91B-361F-4DD4-9DD1-C381F901C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77608" y="6400535"/>
              <a:ext cx="985772" cy="457465"/>
            </a:xfrm>
            <a:custGeom>
              <a:avLst/>
              <a:gdLst>
                <a:gd name="connsiteX0" fmla="*/ 492886 w 985772"/>
                <a:gd name="connsiteY0" fmla="*/ 0 h 460049"/>
                <a:gd name="connsiteX1" fmla="*/ 979365 w 985772"/>
                <a:gd name="connsiteY1" fmla="*/ 396492 h 460049"/>
                <a:gd name="connsiteX2" fmla="*/ 985772 w 985772"/>
                <a:gd name="connsiteY2" fmla="*/ 460049 h 460049"/>
                <a:gd name="connsiteX3" fmla="*/ 0 w 985772"/>
                <a:gd name="connsiteY3" fmla="*/ 460049 h 460049"/>
                <a:gd name="connsiteX4" fmla="*/ 6407 w 985772"/>
                <a:gd name="connsiteY4" fmla="*/ 396492 h 460049"/>
                <a:gd name="connsiteX5" fmla="*/ 492886 w 985772"/>
                <a:gd name="connsiteY5" fmla="*/ 0 h 46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5772" h="460049">
                  <a:moveTo>
                    <a:pt x="492886" y="0"/>
                  </a:moveTo>
                  <a:cubicBezTo>
                    <a:pt x="732851" y="0"/>
                    <a:pt x="933061" y="170215"/>
                    <a:pt x="979365" y="396492"/>
                  </a:cubicBezTo>
                  <a:lnTo>
                    <a:pt x="985772" y="460049"/>
                  </a:lnTo>
                  <a:lnTo>
                    <a:pt x="0" y="460049"/>
                  </a:lnTo>
                  <a:lnTo>
                    <a:pt x="6407" y="396492"/>
                  </a:lnTo>
                  <a:cubicBezTo>
                    <a:pt x="52711" y="170215"/>
                    <a:pt x="252921" y="0"/>
                    <a:pt x="492886" y="0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8E7192-FC2C-C8DC-3663-B471B4FB2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38" y="-921701"/>
            <a:ext cx="4366152" cy="2545726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  <a:ea typeface="Calibri"/>
                <a:cs typeface="Calibri"/>
              </a:rPr>
              <a:t>Software Used</a:t>
            </a:r>
            <a:endParaRPr lang="en-US" sz="42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021BC-621E-D8B5-723D-37351A34E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238" y="1848181"/>
            <a:ext cx="4366152" cy="38552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•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 Arduino IDE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•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1600" err="1">
                <a:solidFill>
                  <a:schemeClr val="bg1"/>
                </a:solidFill>
                <a:ea typeface="Calibri"/>
                <a:cs typeface="Calibri"/>
              </a:rPr>
              <a:t>Tinkercad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Arduino IDE: Arduino IDE (Integrated Development Environment) is the official software used to write, compile, and upload programs (sketches) to Arduino boards. It supports C/C++ and provides libraries for sensors, motors, and communication modules.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600" err="1">
                <a:solidFill>
                  <a:schemeClr val="bg1"/>
                </a:solidFill>
                <a:ea typeface="Calibri"/>
                <a:cs typeface="Calibri"/>
              </a:rPr>
              <a:t>Tinkercad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: </a:t>
            </a:r>
            <a:r>
              <a:rPr lang="en-US" sz="1600" err="1">
                <a:solidFill>
                  <a:schemeClr val="bg1"/>
                </a:solidFill>
                <a:ea typeface="Calibri"/>
                <a:cs typeface="Calibri"/>
              </a:rPr>
              <a:t>Tinkercad</a:t>
            </a:r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 is an online simulation and circuit design tool developed by Autodesk. It allows users to design circuits, simulate Arduino projects, and test code without physical hardware.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3570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7C640A-117B-BE79-3EE6-B1D36D475B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64232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74B3E04-4D04-D7D0-A1CD-6ED1C4629B91}"/>
              </a:ext>
            </a:extLst>
          </p:cNvPr>
          <p:cNvSpPr txBox="1"/>
          <p:nvPr/>
        </p:nvSpPr>
        <p:spPr>
          <a:xfrm>
            <a:off x="6572162" y="6212360"/>
            <a:ext cx="2804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/>
              <a:t>-- PPT by S Sajjan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812</Words>
  <Application>Microsoft Office PowerPoint</Application>
  <PresentationFormat>On-screen Show (4:3)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Bluetooth Controlled RC Car</vt:lpstr>
      <vt:lpstr>Introduction</vt:lpstr>
      <vt:lpstr>Components Used</vt:lpstr>
      <vt:lpstr>Working Principle</vt:lpstr>
      <vt:lpstr>Advantages</vt:lpstr>
      <vt:lpstr>Applications</vt:lpstr>
      <vt:lpstr>Circuit Diagram</vt:lpstr>
      <vt:lpstr>Arduino Code (Part 1)</vt:lpstr>
      <vt:lpstr>Arduino Code (Part 2)</vt:lpstr>
      <vt:lpstr>Arduino Code (Part 3)</vt:lpstr>
      <vt:lpstr>Software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Siddharth sivaram</dc:creator>
  <cp:keywords/>
  <dc:description>generated using python-pptx</dc:description>
  <cp:lastModifiedBy>Siddharth sivaram</cp:lastModifiedBy>
  <cp:revision>110</cp:revision>
  <dcterms:created xsi:type="dcterms:W3CDTF">2013-01-27T09:14:16Z</dcterms:created>
  <dcterms:modified xsi:type="dcterms:W3CDTF">2025-09-18T13:04:47Z</dcterms:modified>
  <cp:category/>
</cp:coreProperties>
</file>